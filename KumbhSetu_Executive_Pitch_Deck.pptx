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E85D04"/>
                </a:solidFill>
              </a:defRPr>
            </a:pPr>
            <a:r>
              <a:t>KUMBHSETU</a:t>
            </a:r>
          </a:p>
          <a:p>
            <a:pPr>
              <a:spcBef>
                <a:spcPts val="1400"/>
              </a:spcBef>
              <a:defRPr sz="2100" b="1">
                <a:solidFill>
                  <a:srgbClr val="FFFFFF"/>
                </a:solidFill>
              </a:defRPr>
            </a:pPr>
            <a:r>
              <a:t>Integrated Smart Governance, Pilgrim Safety &amp; Anti-Extortion Ecosystem</a:t>
            </a:r>
          </a:p>
          <a:p>
            <a:pPr>
              <a:spcBef>
                <a:spcPts val="1200"/>
              </a:spcBef>
              <a:defRPr sz="1450">
                <a:solidFill>
                  <a:srgbClr val="94A3B8"/>
                </a:solidFill>
              </a:defRPr>
            </a:pPr>
            <a:r>
              <a:t>Engineered for Nashik-Trimbakeshwar Simhastha Kumbh Mela 2027 (100M+ Projected Visitors)</a:t>
            </a:r>
          </a:p>
          <a:p>
            <a:pPr>
              <a:spcBef>
                <a:spcPts val="2600"/>
              </a:spcBef>
              <a:defRPr sz="1300" b="1">
                <a:solidFill>
                  <a:srgbClr val="0284C7"/>
                </a:solidFill>
              </a:defRPr>
            </a:pPr>
            <a:r>
              <a:t>Tri-App Command Network: Pilgrim Mobile App | KumbhVeer Volunteers | Police Rapid Radar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5D04"/>
                </a:solidFill>
              </a:defRPr>
            </a:pPr>
            <a:r>
              <a:t>OPERATIONAL BOTTLENECKS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Executive Challenge Matrix: Managing 100M+ Pilgrims at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691640"/>
            <a:ext cx="685800" cy="320040"/>
          </a:xfrm>
          <a:prstGeom prst="round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84832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85D04"/>
                </a:solidFill>
              </a:defRPr>
            </a:pPr>
            <a:r>
              <a:t>Transit &amp; Market Price Extortion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Unscrupulous auto, taxi, and stall operators charge 3x-5x standard rates, exploiting rural and elderly pilgrims with zero real-time tariff visibility.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691640"/>
            <a:ext cx="68580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084832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High-Latency Ground Dispatch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Traditional emergency response takes 25-45 minutes to reach patrol squads, risking crowd bottlenecks and uncontrolled crowd surges.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4069080"/>
            <a:ext cx="685800" cy="3200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PANIC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462272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Unchecked Rumor &amp; Misinformation Cascades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Viral unverified claims regarding ghat closures or bridge damage create hazardous panic stampede risks before authorities can clarify.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4069080"/>
            <a:ext cx="685800" cy="320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SILOS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462272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Disconnected Stakeholder Operations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Pilgrims, on-ground volunteers (NCC/NSS), and Flying Police Squads operate on disconnected communication channels.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5D04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The Solution: A Synchronized Tri-Application Network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90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691640"/>
            <a:ext cx="685800" cy="320040"/>
          </a:xfrm>
          <a:prstGeom prst="round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PILGRIM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5D04"/>
                </a:solidFill>
              </a:defRPr>
            </a:pPr>
            <a:r>
              <a:t>KumbhSetu-Expo</a:t>
            </a:r>
            <a:br/>
            <a:r>
              <a:t>Pilgrim Super App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• 4 Languages: Hindi, Marathi, Gujarati, English</a:t>
            </a:r>
            <a:br/>
            <a:r>
              <a:t>• Real-Time RTO Fare Calculator &amp; Price Caps</a:t>
            </a:r>
            <a:br/>
            <a:r>
              <a:t>• 1-Tap Photo + GPS Complaint Log</a:t>
            </a:r>
            <a:br/>
            <a:r>
              <a:t>• Verified Bazaar &amp; Shahi Snan Countdown</a:t>
            </a:r>
            <a:br/>
            <a:r>
              <a:t>• 24x7 Emergency SOS Speed-Dial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290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0" y="1691640"/>
            <a:ext cx="685800" cy="320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VOLUNTEER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KumbhVeer</a:t>
            </a:r>
            <a:br/>
            <a:r>
              <a:t>Volunteer Ground App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• Real-Time Sector Incident Dispatch</a:t>
            </a:r>
            <a:br/>
            <a:r>
              <a:t>• 3-Stage Severity Tagging (Low / Med / High)</a:t>
            </a:r>
            <a:br/>
            <a:r>
              <a:t>• Field Triage &amp; Merchant Spot-Check</a:t>
            </a:r>
            <a:br/>
            <a:r>
              <a:t>• 1-Tap Google Maps GPS Route Navigation</a:t>
            </a:r>
            <a:br/>
            <a:r>
              <a:t>• Direct Pilgrim Phone Connection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463040"/>
            <a:ext cx="34290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83880" y="1691640"/>
            <a:ext cx="685800" cy="3200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COMMAND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210312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t>KumbhSetu-Admins</a:t>
            </a:r>
            <a:br/>
            <a:r>
              <a:t>Police &amp; Collector Center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• Dedicated Police Rapid Radar Stream</a:t>
            </a:r>
            <a:br/>
            <a:r>
              <a:t>• Instant Challan &amp; Fine Enforcement</a:t>
            </a:r>
            <a:br/>
            <a:r>
              <a:t>• Dynamic Route Tariff &amp; Price Cap Engine</a:t>
            </a:r>
            <a:br/>
            <a:r>
              <a:t>• Official Rumor Buster Broadcast Desk</a:t>
            </a:r>
            <a:br/>
            <a:r>
              <a:t>• Standalone Windows App (.exe) &amp; Web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5D04"/>
                </a:solidFill>
              </a:defRPr>
            </a:pPr>
            <a:r>
              <a:t>ECONOMIC PROTECTION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Anti-Extortion &amp; Dynamic Fair-Pricing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691640"/>
            <a:ext cx="685800" cy="320040"/>
          </a:xfrm>
          <a:prstGeom prst="round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TARIFF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84832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85D04"/>
                </a:solidFill>
              </a:defRPr>
            </a:pPr>
            <a:r>
              <a:t>Live Route Fare Calculator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Pre-calculated RTO-approved maximum rate for over 50 transit corridors across Nashik Road, CBS, Ramkund, Sadhugram, and Trimbakeshwar.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691640"/>
            <a:ext cx="68580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PRICE CAP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084832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Standard Commodity Price Ceilings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Enforced retail caps for water bottles (INR 20), milk, prasad, thali meals, and dharamshala lodging to prevent tourist gouging.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4069080"/>
            <a:ext cx="685800" cy="3200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462272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High-Precision Photo &amp; GPS Capture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Pilgrims upload photos of shop signboards, vehicle license plates, or extortion bills, coupled with automatic GPS coordinates.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4069080"/>
            <a:ext cx="685800" cy="320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462272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Instant Case Token &amp; Report Control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Pilgrims receive an official Case Token ID (KS-RTO-XXXXXX), monitor verification status live, and withdraw/delete reports once resolved.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5D04"/>
                </a:solidFill>
              </a:defRPr>
            </a:pPr>
            <a:r>
              <a:t>FIELD OPERATIONS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KumbhVeer: Decentralized Ground Triage Network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27632"/>
            <a:ext cx="685800" cy="3200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STAGE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554480"/>
            <a:ext cx="9418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284C7"/>
                </a:solidFill>
              </a:defRPr>
            </a:pPr>
            <a:r>
              <a:t>Real-Time Geofenced Dispatch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Incident reports filed by pilgrims immediately alert on-duty KumbhVeer volunteers assigned to that specific sector or ghat.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816352"/>
            <a:ext cx="68580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STAGE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743200"/>
            <a:ext cx="9418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t>Physical Spot Inspection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Volunteers arrive at the GPS coordinates to inspect the vendor/auto, cross-check photo evidence, and prevent false reporting.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4005072"/>
            <a:ext cx="685800" cy="320040"/>
          </a:xfrm>
          <a:prstGeom prst="round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STAGE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931920"/>
            <a:ext cx="9418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E85D04"/>
                </a:solidFill>
              </a:defRPr>
            </a:pPr>
            <a:r>
              <a:t>3-Tier Severity Calibration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Volunteers calibrate incident severity: Low (informal resolve), Medium (price check), or High (police squad escalation).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5193792"/>
            <a:ext cx="685800" cy="320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STAGE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120640"/>
            <a:ext cx="9418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59669"/>
                </a:solidFill>
              </a:defRPr>
            </a:pPr>
            <a:r>
              <a:t>Seamless Hand-off to Flying Squads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High and medium severity tickets are immediately routed into the Tactical Police Radar with full photographic and GPS trails.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5D04"/>
                </a:solidFill>
              </a:defRPr>
            </a:pPr>
            <a:r>
              <a:t>LAW ENFORCEMENT UNIT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Police Command: Rapid Radar &amp; Legal Enforcement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691640"/>
            <a:ext cx="685800" cy="320040"/>
          </a:xfrm>
          <a:prstGeom prst="round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RADAR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84832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85D04"/>
                </a:solidFill>
              </a:defRPr>
            </a:pPr>
            <a:r>
              <a:t>Tactical Live Radar Stream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Displays active escalated high &amp; medium priority incidents across Ramkund, Tapovan, and Kushavarta in real-time.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691640"/>
            <a:ext cx="685800" cy="3200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084832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Full-Resolution Photo Inspection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Prominent photo banners with tap-to-expand modal allow officers to inspect violations before dispatching flying units.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4069080"/>
            <a:ext cx="685800" cy="320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LEGAL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462272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Direct Challan &amp; Fine Execution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Enforces instant digital challans (INR 500 / 1,000 / 2,000 / 5,000), shop license suspensions, or formal warnings.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4069080"/>
            <a:ext cx="68580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462272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1-Tap Google Maps Navigation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Provides flying squads with exact turn-by-turn navigation directly to the offender's location.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5D04"/>
                </a:solidFill>
              </a:defRPr>
            </a:pPr>
            <a:r>
              <a:t>PUBLIC SAFETY &amp; CROWD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Rumor Buster: Zero-Panic Anti-Misinformation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27632"/>
            <a:ext cx="68580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554480"/>
            <a:ext cx="9418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t>Citizen Rumor Submission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Yatris and volunteers submit suspicious messages or viral claims directly through the mobile app.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816352"/>
            <a:ext cx="685800" cy="3200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743200"/>
            <a:ext cx="9418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284C7"/>
                </a:solidFill>
              </a:defRPr>
            </a:pPr>
            <a:r>
              <a:t>Admin Fact-Check Verification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District Administration and Mela Police Control Room investigate and tag the claim as TRUE, FALSE, or UNDER 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4005072"/>
            <a:ext cx="685800" cy="320040"/>
          </a:xfrm>
          <a:prstGeom prst="round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931920"/>
            <a:ext cx="9418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E85D04"/>
                </a:solidFill>
              </a:defRPr>
            </a:pPr>
            <a:r>
              <a:t>4-Language Live Broadcast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Official clarification cards with authentic facts are instantly pushed to all 100M+ app users simultaneously.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5193792"/>
            <a:ext cx="685800" cy="320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120640"/>
            <a:ext cx="9418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59669"/>
                </a:solidFill>
              </a:defRPr>
            </a:pPr>
            <a:r>
              <a:t>Stampede &amp; Panic Prevention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Eliminates panic cascades surrounding bridge closures, crowd stampedes, or bathing ghat timings within seconds.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5D04"/>
                </a:solidFill>
              </a:defRPr>
            </a:pPr>
            <a:r>
              <a:t>TECHNICAL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Enterprise Technology Stack &amp; Offline-First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90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691640"/>
            <a:ext cx="685800" cy="320040"/>
          </a:xfrm>
          <a:prstGeom prst="round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5D04"/>
                </a:solidFill>
              </a:defRPr>
            </a:pPr>
            <a:r>
              <a:t>Mobile &amp; Web Frontend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• React Native Expo SDK 57 (React 19)</a:t>
            </a:r>
            <a:br/>
            <a:r>
              <a:t>• TypeScript with strict type-safety</a:t>
            </a:r>
            <a:br/>
            <a:r>
              <a:t>• Multi-lingual i18n localization</a:t>
            </a:r>
            <a:br/>
            <a:r>
              <a:t>• Asynchronous safe storage caching</a:t>
            </a:r>
            <a:br/>
            <a:r>
              <a:t>• Responsive iOS, Android &amp; Web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290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0" y="1691640"/>
            <a:ext cx="685800" cy="3200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t>Real-Time Cloud Engine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• Supabase PostgreSQL Database</a:t>
            </a:r>
            <a:br/>
            <a:r>
              <a:t>• Sub-second WebSocket Channels</a:t>
            </a:r>
            <a:br/>
            <a:r>
              <a:t>• Dedicated 'kumbh-media' bucket</a:t>
            </a:r>
            <a:br/>
            <a:r>
              <a:t>• Pure JS Base64 binary converter</a:t>
            </a:r>
            <a:br/>
            <a:r>
              <a:t>• Row Level Security (RLS)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463040"/>
            <a:ext cx="34290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83880" y="1691640"/>
            <a:ext cx="68580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DESKTOP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210312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Command Center Software</a:t>
            </a:r>
          </a:p>
          <a:p>
            <a:pPr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• Electron 44 Standalone Windows App</a:t>
            </a:r>
            <a:br/>
            <a:r>
              <a:t>• Automated .exe packaging pipeline</a:t>
            </a:r>
            <a:br/>
            <a:r>
              <a:t>• Role-based DBA provisioning</a:t>
            </a:r>
            <a:br/>
            <a:r>
              <a:t>• Custom HTTP static asset bridge</a:t>
            </a:r>
            <a:br/>
            <a:r>
              <a:t>• Zero-dependency desktop bundle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5D04"/>
                </a:solidFill>
              </a:defRPr>
            </a:pPr>
            <a:r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Projected Impact &amp; Operational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664208"/>
            <a:ext cx="685800" cy="320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59669"/>
                </a:solidFill>
              </a:defRPr>
            </a:pPr>
            <a:r>
              <a:t>&lt; 4 Min</a:t>
            </a:r>
          </a:p>
          <a:p>
            <a:pPr>
              <a:spcBef>
                <a:spcPts val="200"/>
              </a:spcBef>
              <a:defRPr sz="1350" b="1">
                <a:solidFill>
                  <a:srgbClr val="0F172A"/>
                </a:solidFill>
              </a:defRPr>
            </a:pPr>
            <a:r>
              <a:t>Incident Response Time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Reduced from 35+ mins via volunteer triage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664208"/>
            <a:ext cx="685800" cy="320040"/>
          </a:xfrm>
          <a:prstGeom prst="round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01168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85D04"/>
                </a:solidFill>
              </a:defRPr>
            </a:pPr>
            <a:r>
              <a:t>100%</a:t>
            </a:r>
          </a:p>
          <a:p>
            <a:pPr>
              <a:spcBef>
                <a:spcPts val="200"/>
              </a:spcBef>
              <a:defRPr sz="1350" b="1">
                <a:solidFill>
                  <a:srgbClr val="0F172A"/>
                </a:solidFill>
              </a:defRPr>
            </a:pPr>
            <a:r>
              <a:t>Price Transparency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Across 50+ transit routes &amp; commodity caps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4041648"/>
            <a:ext cx="685800" cy="3200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38912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284C7"/>
                </a:solidFill>
              </a:defRPr>
            </a:pPr>
            <a:r>
              <a:t>100M+</a:t>
            </a:r>
          </a:p>
          <a:p>
            <a:pPr>
              <a:spcBef>
                <a:spcPts val="200"/>
              </a:spcBef>
              <a:defRPr sz="1350" b="1">
                <a:solidFill>
                  <a:srgbClr val="0F172A"/>
                </a:solidFill>
              </a:defRPr>
            </a:pPr>
            <a:r>
              <a:t>Pilgrim Reach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In Hindi, Marathi, Gujarati &amp; English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4041648"/>
            <a:ext cx="68580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SAFETY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38912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0 Panic</a:t>
            </a:r>
          </a:p>
          <a:p>
            <a:pPr>
              <a:spcBef>
                <a:spcPts val="200"/>
              </a:spcBef>
              <a:defRPr sz="1350" b="1">
                <a:solidFill>
                  <a:srgbClr val="0F172A"/>
                </a:solidFill>
              </a:defRPr>
            </a:pPr>
            <a:r>
              <a:t>Misinformation Containment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Sub-minute rumor clarification broadcast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E85D04"/>
                </a:solidFill>
              </a:defRPr>
            </a:pPr>
            <a:r>
              <a:t>KumbhSetu: Ready for Simhastha Kumbh Mela 2027</a:t>
            </a:r>
          </a:p>
          <a:p>
            <a:pPr>
              <a:spcBef>
                <a:spcPts val="1600"/>
              </a:spcBef>
              <a:defRPr sz="2000" b="1">
                <a:solidFill>
                  <a:srgbClr val="FFFFFF"/>
                </a:solidFill>
              </a:defRPr>
            </a:pPr>
            <a:r>
              <a:t>Empowering Pilgrims • Equipping Volunteers • Enabling Authorities</a:t>
            </a:r>
          </a:p>
          <a:p>
            <a:pPr>
              <a:spcBef>
                <a:spcPts val="1600"/>
              </a:spcBef>
              <a:defRPr sz="1300">
                <a:solidFill>
                  <a:srgbClr val="CBD5E1"/>
                </a:solidFill>
              </a:defRPr>
            </a:pPr>
            <a:r>
              <a:t>• Cross-Platform Mobile Apps Ready (Android, iOS)</a:t>
            </a:r>
            <a:br/>
            <a:r>
              <a:t>• Desktop Command Center Built (Windows .exe Standalone)</a:t>
            </a:r>
            <a:br/>
            <a:r>
              <a:t>• Cloud Real-time Backend &amp; Supabase Storage Operational</a:t>
            </a:r>
            <a:br/>
            <a:r>
              <a:t>• 4-Language Cultural Localization &amp; SOS Triage Validated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