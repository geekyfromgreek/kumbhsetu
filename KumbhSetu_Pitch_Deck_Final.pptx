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E85D04"/>
                </a:solidFill>
              </a:defRPr>
            </a:pPr>
            <a:r>
              <a:t>KUMBHSETU</a:t>
            </a:r>
          </a:p>
          <a:p>
            <a:pPr>
              <a:spcBef>
                <a:spcPts val="1400"/>
              </a:spcBef>
              <a:defRPr sz="2000" b="1">
                <a:solidFill>
                  <a:srgbClr val="FFFFFF"/>
                </a:solidFill>
              </a:defRPr>
            </a:pPr>
            <a:r>
              <a:t>Integrated Smart Governance, Pilgrim Safety &amp; Anti-Extortion Ecosystem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Engineered for Nashik-Trimbakeshwar Simhastha Kumbh Mela 2027 (100M+ Projected Visitors)</a:t>
            </a:r>
          </a:p>
          <a:p>
            <a:pPr>
              <a:spcBef>
                <a:spcPts val="2400"/>
              </a:spcBef>
              <a:defRPr sz="1250" b="1">
                <a:solidFill>
                  <a:srgbClr val="0284C7"/>
                </a:solidFill>
              </a:defRPr>
            </a:pPr>
            <a:r>
              <a:t>Tri-App Command Network: Pilgrim Mobile App | KumbhVeer Volunteers | Police Rapid Radar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93024" y="1152144"/>
            <a:ext cx="1901952" cy="391363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231eed08-fa39-4412-bd3c-55a6441bb8b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188720"/>
            <a:ext cx="1828800" cy="3840480"/>
          </a:xfrm>
          <a:prstGeom prst="roundRect">
            <a:avLst>
              <a:gd name="adj" fmla="val 7167"/>
            </a:avLst>
          </a:prstGeom>
        </p:spPr>
      </p:pic>
      <p:sp>
        <p:nvSpPr>
          <p:cNvPr id="6" name="Rounded Rectangle 5"/>
          <p:cNvSpPr/>
          <p:nvPr/>
        </p:nvSpPr>
        <p:spPr>
          <a:xfrm>
            <a:off x="9838944" y="1609344"/>
            <a:ext cx="1810512" cy="3730752"/>
          </a:xfrm>
          <a:prstGeom prst="roundRect">
            <a:avLst>
              <a:gd name="adj" fmla="val 9617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3ebc7cb2-b0a2-4b57-bb1e-dcbf2f2daed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645920"/>
            <a:ext cx="1737360" cy="3657600"/>
          </a:xfrm>
          <a:prstGeom prst="roundRect">
            <a:avLst>
              <a:gd name="adj" fmla="val 9321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85D04"/>
                </a:solidFill>
              </a:defRPr>
            </a:pPr>
            <a:r>
              <a:t>OPERATIONAL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Challenge Matrix: Managing 100M+ Pilgrims at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20" y="1600200"/>
            <a:ext cx="731520" cy="292608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93392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5D04"/>
                </a:solidFill>
              </a:defRPr>
            </a:pPr>
            <a:r>
              <a:t>Transit &amp; Market Price Extortion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Unscrupulous auto, taxi, and stall operators charge 3x-5x standard rates, exploiting rural and elderly pilgrims with zero real-time tariff visibility.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55080" y="1600200"/>
            <a:ext cx="73152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93392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High-Latency Ground Dispatch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Traditional emergency response takes 25-45 minutes to reach patrol squads, risking crowd bottlenecks and uncontrolled crowd surges.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0120" y="4069080"/>
            <a:ext cx="73152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62272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Unchecked Rumor &amp; Misinformation Cascades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Viral unverified claims regarding ghat closures or bridge damage create hazardous panic stampede risks before authorities can clarify.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55080" y="4069080"/>
            <a:ext cx="73152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SILOS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462272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Disconnected Stakeholder Operations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Pilgrims, on-ground volunteers (NCC/NSS), and Flying Police Squads operate on disconnected communication channels.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85D04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Solution: A Synchronized Tri-Application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20" y="1600200"/>
            <a:ext cx="731520" cy="292608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PILGRIM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5D04"/>
                </a:solidFill>
              </a:defRPr>
            </a:pPr>
            <a:r>
              <a:t>KumbhSetu-Expo</a:t>
            </a:r>
            <a:br/>
            <a:r>
              <a:t>Pilgrim Super App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4 Languages (HI / MR / GU / EN)</a:t>
            </a:r>
            <a:br/>
            <a:r>
              <a:t>• Fare Calculator &amp; RTO Price Caps</a:t>
            </a:r>
            <a:br/>
            <a:r>
              <a:t>• 1-Tap Photo + GPS Complaint Log</a:t>
            </a:r>
            <a:br/>
            <a:r>
              <a:t>• Verified Bazaar &amp; Snan Timers</a:t>
            </a:r>
            <a:br/>
            <a:r>
              <a:t>• 24x7 Emergency SOS Speed-Dial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0" y="1600200"/>
            <a:ext cx="73152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VOLUNTEER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KumbhVeer</a:t>
            </a:r>
            <a:br/>
            <a:r>
              <a:t>Volunteer Ground App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Real-Time Sector Incident Alerts</a:t>
            </a:r>
            <a:br/>
            <a:r>
              <a:t>• 3-Stage Severity Tagging (Low/Med/High)</a:t>
            </a:r>
            <a:br/>
            <a:r>
              <a:t>• Field Triage &amp; Merchant Spot-Check</a:t>
            </a:r>
            <a:br/>
            <a:r>
              <a:t>• 1-Tap Google Maps GPS Route</a:t>
            </a:r>
            <a:br/>
            <a:r>
              <a:t>• Direct Pilgrim Phone Connection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83880" y="1600200"/>
            <a:ext cx="73152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COMMAND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01168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KumbhSetu-Admins</a:t>
            </a:r>
            <a:br/>
            <a:r>
              <a:t>Police &amp; Collector Center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Dedicated Police Rapid Radar</a:t>
            </a:r>
            <a:br/>
            <a:r>
              <a:t>• Instant Challan &amp; Fine Enforcement</a:t>
            </a:r>
            <a:br/>
            <a:r>
              <a:t>• Dynamic Route Tariff Management</a:t>
            </a:r>
            <a:br/>
            <a:r>
              <a:t>• Official Rumor Buster Dispatcher</a:t>
            </a:r>
            <a:br/>
            <a:r>
              <a:t>• Desktop (.exe) &amp; Web Control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85D04"/>
                </a:solidFill>
              </a:defRPr>
            </a:pPr>
            <a:r>
              <a:t>APPLICATION SHOWCASE 1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Pilgrim Super App: Anti-Extortion &amp; Safety in 4 Languages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9436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5D04"/>
                </a:solidFill>
              </a:defRPr>
            </a:pPr>
            <a:r>
              <a:t>KumbhSetu-Expo (Pilgrim Mobile Application)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4-Language Cultural Localization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Instant switching across Hindi, Marathi, Gujarati, and English with culturally authentic terminology.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Dynamic RTO Transit Fare Calculator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Pre-calculated maximum rates for 50+ routes across Nashik Road, CBS, Ramkund, and Trimbakeshwar.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1-Tap Photo &amp; GPS Incident Logging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Pilgrims capture shop/vehicle photos and lock coordinates with instant Case Token IDs (KS-RTO-XXXXXX).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Case Self-Management &amp; Withdrawal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Pilgrims track ground volunteer verification live and can delete or withdraw resolved complaints.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4304" y="1335024"/>
            <a:ext cx="2267712" cy="4919472"/>
          </a:xfrm>
          <a:prstGeom prst="roundRect">
            <a:avLst>
              <a:gd name="adj" fmla="val 8379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0bd2efa-7528-4d49-a1fc-4f349fef6ad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371600"/>
            <a:ext cx="2194560" cy="4846320"/>
          </a:xfrm>
          <a:prstGeom prst="roundRect">
            <a:avLst>
              <a:gd name="adj" fmla="val 6667"/>
            </a:avLst>
          </a:prstGeom>
        </p:spPr>
      </p:pic>
      <p:sp>
        <p:nvSpPr>
          <p:cNvPr id="8" name="Rounded Rectangle 7"/>
          <p:cNvSpPr/>
          <p:nvPr/>
        </p:nvSpPr>
        <p:spPr>
          <a:xfrm>
            <a:off x="9473184" y="1335024"/>
            <a:ext cx="2267712" cy="4919472"/>
          </a:xfrm>
          <a:prstGeom prst="roundRect">
            <a:avLst>
              <a:gd name="adj" fmla="val 6139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9057a2a-7a89-48cf-9402-4ff57b4b402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371600"/>
            <a:ext cx="2194560" cy="4846320"/>
          </a:xfrm>
          <a:prstGeom prst="roundRect">
            <a:avLst>
              <a:gd name="adj" fmla="val 5556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85D04"/>
                </a:solidFill>
              </a:defRPr>
            </a:pPr>
            <a:r>
              <a:t>APPLICATION SHOWCASE 2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KumbhVeer: Decentralized Ground Triage &amp;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9436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KumbhVeer (Volunteer Ground Application)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Sub-Minute Sector Dispatch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On-duty volunteers stationed at Ramkund, Tapovan, and Kushavarta receive instant real-time vibration alerts for nearby incidents.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3-Tier Severity Calibration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Volunteers physically inspect the spot and calibrate ticket priority:</a:t>
            </a:r>
            <a:br/>
            <a:r>
              <a:t>  - Low: Informal spot resolve</a:t>
            </a:r>
            <a:br/>
            <a:r>
              <a:t>  - Medium: Price compliance check</a:t>
            </a:r>
            <a:br/>
            <a:r>
              <a:t>  - High: Direct Police Flying Squad escalation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1-Tap Google Maps GPS Route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Provides walking and transit navigation directly to the pilgrim's locked GPS pin.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Direct Pilgrim Dialing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Instant one-touch phone verification to prevent false reporting and clarify landmark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4304" y="1335024"/>
            <a:ext cx="2267712" cy="4919472"/>
          </a:xfrm>
          <a:prstGeom prst="roundRect">
            <a:avLst>
              <a:gd name="adj" fmla="val 4907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3ebc7cb2-b0a2-4b57-bb1e-dcbf2f2daed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371600"/>
            <a:ext cx="2194560" cy="4846320"/>
          </a:xfrm>
          <a:prstGeom prst="roundRect">
            <a:avLst>
              <a:gd name="adj" fmla="val 1736"/>
            </a:avLst>
          </a:prstGeom>
        </p:spPr>
      </p:pic>
      <p:sp>
        <p:nvSpPr>
          <p:cNvPr id="8" name="Rounded Rectangle 7"/>
          <p:cNvSpPr/>
          <p:nvPr/>
        </p:nvSpPr>
        <p:spPr>
          <a:xfrm>
            <a:off x="9473184" y="1335024"/>
            <a:ext cx="2267712" cy="4919472"/>
          </a:xfrm>
          <a:prstGeom prst="roundRect">
            <a:avLst>
              <a:gd name="adj" fmla="val 4571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46fbdef9-acd1-4260-91a5-2034667d7a5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371600"/>
            <a:ext cx="2194560" cy="4846320"/>
          </a:xfrm>
          <a:prstGeom prst="roundRect">
            <a:avLst>
              <a:gd name="adj" fmla="val 3473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85D04"/>
                </a:solidFill>
              </a:defRPr>
            </a:pPr>
            <a:r>
              <a:rPr dirty="0"/>
              <a:t>APPLICATION SHOWCASE 3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Police Command Center: Tactical Live Radar &amp; </a:t>
            </a:r>
            <a:endParaRPr lang="en-IN" dirty="0"/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Enforcement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284C7"/>
                </a:solidFill>
              </a:defRPr>
            </a:pPr>
            <a:r>
              <a:t>KumbhSetu-Admins (Police Tactical Center)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• Dedicated Police Rapid Radar Stream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Real-time triage stream prioritizing High Severity and Medium Watch extortion tickets across sectors.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• 150px Full-Resolution Photo Evidence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High-resolution photographic inspection modal allowing officers to verify signboards and vehicle plates.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• Instant Digital Challans &amp; Penalties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Executes formal fines (INR 500 / 1,000 / 2,000 / 5,000), shop license suspensions, or FIR registrations.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• Cross-Platform Desktop (.exe) &amp; Web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Zero-dependency standalone Windows software built for the Mela Control Room and field laptops.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58EF29-1977-29B1-F280-02F467FCAF19}"/>
              </a:ext>
            </a:extLst>
          </p:cNvPr>
          <p:cNvGrpSpPr/>
          <p:nvPr/>
        </p:nvGrpSpPr>
        <p:grpSpPr>
          <a:xfrm>
            <a:off x="6717792" y="259080"/>
            <a:ext cx="5192268" cy="3169920"/>
            <a:chOff x="6717792" y="579120"/>
            <a:chExt cx="5192268" cy="3169920"/>
          </a:xfrm>
        </p:grpSpPr>
        <p:sp>
          <p:nvSpPr>
            <p:cNvPr id="6" name="Rounded Rectangle 5"/>
            <p:cNvSpPr/>
            <p:nvPr/>
          </p:nvSpPr>
          <p:spPr>
            <a:xfrm>
              <a:off x="6717792" y="579120"/>
              <a:ext cx="5192268" cy="3169920"/>
            </a:xfrm>
            <a:prstGeom prst="roundRect">
              <a:avLst>
                <a:gd name="adj" fmla="val 6571"/>
              </a:avLst>
            </a:prstGeom>
            <a:solidFill>
              <a:srgbClr val="0F172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" name="Picture 6" descr="Screenshot 2026-09-07 121840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39712" y="667512"/>
              <a:ext cx="4960620" cy="2982468"/>
            </a:xfrm>
            <a:prstGeom prst="roundRect">
              <a:avLst>
                <a:gd name="adj" fmla="val 2660"/>
              </a:avLst>
            </a:prstGeom>
          </p:spPr>
        </p:pic>
      </p:grp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9C008AE2-AC31-7A33-9DBF-CB5564DB6E31}"/>
              </a:ext>
            </a:extLst>
          </p:cNvPr>
          <p:cNvSpPr/>
          <p:nvPr/>
        </p:nvSpPr>
        <p:spPr>
          <a:xfrm>
            <a:off x="6717792" y="3545936"/>
            <a:ext cx="5192268" cy="3169920"/>
          </a:xfrm>
          <a:prstGeom prst="roundRect">
            <a:avLst>
              <a:gd name="adj" fmla="val 6571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shot 2026-09-07 1219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996" y="3644144"/>
            <a:ext cx="4974336" cy="2946785"/>
          </a:xfrm>
          <a:prstGeom prst="roundRect">
            <a:avLst>
              <a:gd name="adj" fmla="val 4513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85D04"/>
                </a:solidFill>
              </a:defRPr>
            </a:pPr>
            <a:r>
              <a:t>APPLICATION SHOWCASE 4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Verified Local Bazaar &amp; Rumor Buster Dispatcher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E85D04"/>
                </a:solidFill>
              </a:defRPr>
            </a:pPr>
            <a:r>
              <a:t>Commerce Integrity &amp; Public Safety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• Verified Kumbh Bazaar Directory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• Zero-Panic Rumor Buster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• Shahi Snan Live Muhurat Countdown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• Direct Merchant Calling &amp; Inquiries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Pilgrims directly connect with verified stalls to pre-order food and puja essentials at capped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07024" y="1335024"/>
            <a:ext cx="2267712" cy="4919472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360937d6-19d8-49b6-b8ad-0738937ed9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2194560" cy="4846320"/>
          </a:xfrm>
          <a:prstGeom prst="roundRect">
            <a:avLst>
              <a:gd name="adj" fmla="val 4514"/>
            </a:avLst>
          </a:prstGeom>
        </p:spPr>
      </p:pic>
      <p:sp>
        <p:nvSpPr>
          <p:cNvPr id="8" name="Rounded Rectangle 7"/>
          <p:cNvSpPr/>
          <p:nvPr/>
        </p:nvSpPr>
        <p:spPr>
          <a:xfrm>
            <a:off x="8421624" y="2414016"/>
            <a:ext cx="3264408" cy="2103120"/>
          </a:xfrm>
          <a:prstGeom prst="roundRect">
            <a:avLst>
              <a:gd name="adj" fmla="val 7428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shot 2026-09-07 1219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730" y="2491739"/>
            <a:ext cx="3101340" cy="1943101"/>
          </a:xfrm>
          <a:prstGeom prst="roundRect">
            <a:avLst>
              <a:gd name="adj" fmla="val 3020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85D04"/>
                </a:solidFill>
              </a:defRPr>
            </a:pPr>
            <a:r>
              <a:t>TECHNICAL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Enterprise Technology Stack &amp; Cloud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20" y="1600200"/>
            <a:ext cx="731520" cy="292608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5D04"/>
                </a:solidFill>
              </a:defRPr>
            </a:pPr>
            <a:r>
              <a:t>Mobile &amp; Web Tier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React Native Expo SDK 57 (React 19)</a:t>
            </a:r>
            <a:br/>
            <a:r>
              <a:t>• TypeScript with strict type-safety</a:t>
            </a:r>
            <a:br/>
            <a:r>
              <a:t>• 4-Language i18n localization engine</a:t>
            </a:r>
            <a:br/>
            <a:r>
              <a:t>• Asynchronous safe storage caching</a:t>
            </a:r>
            <a:br/>
            <a:r>
              <a:t>• Responsive iOS, Android &amp; Web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0" y="1600200"/>
            <a:ext cx="73152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Real-Time Cloud Engine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Supabase PostgreSQL Database</a:t>
            </a:r>
            <a:br/>
            <a:r>
              <a:t>• Sub-second WebSocket Channels</a:t>
            </a:r>
            <a:br/>
            <a:r>
              <a:t>• Dedicated 'kumbh-media' bucket</a:t>
            </a:r>
            <a:br/>
            <a:r>
              <a:t>• Pure JS Base64 binary converter</a:t>
            </a:r>
            <a:br/>
            <a:r>
              <a:t>• Row Level Security (RLS) enforcement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83880" y="1600200"/>
            <a:ext cx="73152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DESKTOP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01168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Command Center Software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Electron 44 Standalone Windows App</a:t>
            </a:r>
            <a:br/>
            <a:r>
              <a:t>• Automated .exe packaging pipeline</a:t>
            </a:r>
            <a:br/>
            <a:r>
              <a:t>• Role-based DBA provisioning</a:t>
            </a:r>
            <a:br/>
            <a:r>
              <a:t>• Custom HTTP static asset bridge</a:t>
            </a:r>
            <a:br/>
            <a:r>
              <a:t>• Zero-dependency desktop bundle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85D04"/>
                </a:solidFill>
              </a:defRPr>
            </a:pPr>
            <a: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Projected Impact &amp; Operational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20" y="1572768"/>
            <a:ext cx="73152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59669"/>
                </a:solidFill>
              </a:defRPr>
            </a:pPr>
            <a:r>
              <a:t>&lt; 4 Min</a:t>
            </a:r>
          </a:p>
          <a:p>
            <a:pPr>
              <a:spcBef>
                <a:spcPts val="200"/>
              </a:spcBef>
              <a:defRPr sz="1350" b="1">
                <a:solidFill>
                  <a:srgbClr val="0F172A"/>
                </a:solidFill>
              </a:defRPr>
            </a:pPr>
            <a:r>
              <a:t>Incident Response Time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Reduced from 35+ mins via volunteer ground triage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55080" y="1572768"/>
            <a:ext cx="731520" cy="292608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85D04"/>
                </a:solidFill>
              </a:defRPr>
            </a:pPr>
            <a:r>
              <a:t>100%</a:t>
            </a:r>
          </a:p>
          <a:p>
            <a:pPr>
              <a:spcBef>
                <a:spcPts val="200"/>
              </a:spcBef>
              <a:defRPr sz="1350" b="1">
                <a:solidFill>
                  <a:srgbClr val="0F172A"/>
                </a:solidFill>
              </a:defRPr>
            </a:pPr>
            <a:r>
              <a:t>Price Transparency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Across 50+ transit routes &amp; commodity caps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0120" y="4041648"/>
            <a:ext cx="73152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891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284C7"/>
                </a:solidFill>
              </a:defRPr>
            </a:pPr>
            <a:r>
              <a:t>100M+</a:t>
            </a:r>
          </a:p>
          <a:p>
            <a:pPr>
              <a:spcBef>
                <a:spcPts val="200"/>
              </a:spcBef>
              <a:defRPr sz="1350" b="1">
                <a:solidFill>
                  <a:srgbClr val="0F172A"/>
                </a:solidFill>
              </a:defRPr>
            </a:pPr>
            <a:r>
              <a:t>Pilgrim Reach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In Hindi, Marathi, Gujarati &amp; English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55080" y="4041648"/>
            <a:ext cx="731520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3891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0 Panic</a:t>
            </a:r>
          </a:p>
          <a:p>
            <a:pPr>
              <a:spcBef>
                <a:spcPts val="200"/>
              </a:spcBef>
              <a:defRPr sz="1350" b="1">
                <a:solidFill>
                  <a:srgbClr val="0F172A"/>
                </a:solidFill>
              </a:defRPr>
            </a:pPr>
            <a:r>
              <a:t>Misinformation Containment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Sub-minute rumor clarification broadcast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5D04"/>
                </a:solidFill>
              </a:defRPr>
            </a:pPr>
            <a:r>
              <a:t>KumbhSetu: Ready for Simhastha Kumbh Mela 2027</a:t>
            </a:r>
          </a:p>
          <a:p>
            <a:pPr>
              <a:spcBef>
                <a:spcPts val="1400"/>
              </a:spcBef>
              <a:defRPr sz="1800" b="1">
                <a:solidFill>
                  <a:srgbClr val="FFFFFF"/>
                </a:solidFill>
              </a:defRPr>
            </a:pPr>
            <a:r>
              <a:t>Empowering Pilgrims • Equipping Volunteers • Enabling Authorities</a:t>
            </a:r>
          </a:p>
          <a:p>
            <a:pPr>
              <a:spcBef>
                <a:spcPts val="1400"/>
              </a:spcBef>
              <a:defRPr sz="1250">
                <a:solidFill>
                  <a:srgbClr val="CBD5E1"/>
                </a:solidFill>
              </a:defRPr>
            </a:pPr>
            <a:r>
              <a:t>• Cross-Platform Mobile Apps Ready (Android, iOS)</a:t>
            </a:r>
            <a:br/>
            <a:r>
              <a:t>• Desktop Command Center Built (Windows .exe Standalone)</a:t>
            </a:r>
            <a:br/>
            <a:r>
              <a:t>• Cloud Real-time Backend &amp; Supabase Storage Operational</a:t>
            </a:r>
            <a:br/>
            <a:r>
              <a:t>• 4-Language Cultural Localization &amp; SOS Triage Validated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93024" y="1335024"/>
            <a:ext cx="1901952" cy="391363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79bc193-45d3-486a-9905-3adc842936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5944" y="1069848"/>
            <a:ext cx="2103120" cy="4416552"/>
          </a:xfrm>
          <a:prstGeom prst="roundRect">
            <a:avLst>
              <a:gd name="adj" fmla="val 6667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907</Words>
  <Application>Microsoft Office PowerPoint</Application>
  <PresentationFormat>Widescreen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Gaurang Dalal</cp:lastModifiedBy>
  <cp:revision>3</cp:revision>
  <dcterms:created xsi:type="dcterms:W3CDTF">2013-01-27T09:14:16Z</dcterms:created>
  <dcterms:modified xsi:type="dcterms:W3CDTF">2026-09-07T07:09:49Z</dcterms:modified>
  <cp:category/>
</cp:coreProperties>
</file>